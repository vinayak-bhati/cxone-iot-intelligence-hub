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9" r:id="rId3"/>
    <p:sldId id="257" r:id="rId4"/>
    <p:sldId id="260" r:id="rId5"/>
    <p:sldId id="258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95"/>
    <p:restoredTop sz="94610"/>
  </p:normalViewPr>
  <p:slideViewPr>
    <p:cSldViewPr snapToGrid="0" snapToObjects="1">
      <p:cViewPr varScale="1">
        <p:scale>
          <a:sx n="156" d="100"/>
          <a:sy n="156" d="100"/>
        </p:scale>
        <p:origin x="200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j Mohan" userId="67ce6ed9-93a9-4606-9ad3-2e4ae34b9281" providerId="ADAL" clId="{31436464-8DEB-5FAE-A251-3259D184D548}"/>
    <pc:docChg chg="custSel modSld">
      <pc:chgData name="Brij Mohan" userId="67ce6ed9-93a9-4606-9ad3-2e4ae34b9281" providerId="ADAL" clId="{31436464-8DEB-5FAE-A251-3259D184D548}" dt="2026-07-03T10:22:29.458" v="34" actId="20577"/>
      <pc:docMkLst>
        <pc:docMk/>
      </pc:docMkLst>
      <pc:sldChg chg="modSp mod">
        <pc:chgData name="Brij Mohan" userId="67ce6ed9-93a9-4606-9ad3-2e4ae34b9281" providerId="ADAL" clId="{31436464-8DEB-5FAE-A251-3259D184D548}" dt="2026-07-03T10:22:29.458" v="34" actId="20577"/>
        <pc:sldMkLst>
          <pc:docMk/>
          <pc:sldMk cId="0" sldId="256"/>
        </pc:sldMkLst>
        <pc:spChg chg="mod">
          <ac:chgData name="Brij Mohan" userId="67ce6ed9-93a9-4606-9ad3-2e4ae34b9281" providerId="ADAL" clId="{31436464-8DEB-5FAE-A251-3259D184D548}" dt="2026-07-03T10:22:08.743" v="28" actId="20577"/>
          <ac:spMkLst>
            <pc:docMk/>
            <pc:sldMk cId="0" sldId="256"/>
            <ac:spMk id="10" creationId="{00000000-0000-0000-0000-000000000000}"/>
          </ac:spMkLst>
        </pc:spChg>
        <pc:spChg chg="mod">
          <ac:chgData name="Brij Mohan" userId="67ce6ed9-93a9-4606-9ad3-2e4ae34b9281" providerId="ADAL" clId="{31436464-8DEB-5FAE-A251-3259D184D548}" dt="2026-07-03T10:22:29.458" v="34" actId="20577"/>
          <ac:spMkLst>
            <pc:docMk/>
            <pc:sldMk cId="0" sldId="256"/>
            <ac:spMk id="12" creationId="{00000000-0000-0000-0000-000000000000}"/>
          </ac:spMkLst>
        </pc:spChg>
      </pc:sldChg>
      <pc:sldChg chg="modSp mod">
        <pc:chgData name="Brij Mohan" userId="67ce6ed9-93a9-4606-9ad3-2e4ae34b9281" providerId="ADAL" clId="{31436464-8DEB-5FAE-A251-3259D184D548}" dt="2026-07-03T10:17:42.352" v="18" actId="20577"/>
        <pc:sldMkLst>
          <pc:docMk/>
          <pc:sldMk cId="0" sldId="258"/>
        </pc:sldMkLst>
        <pc:spChg chg="mod">
          <ac:chgData name="Brij Mohan" userId="67ce6ed9-93a9-4606-9ad3-2e4ae34b9281" providerId="ADAL" clId="{31436464-8DEB-5FAE-A251-3259D184D548}" dt="2026-07-03T10:17:42.352" v="18" actId="20577"/>
          <ac:spMkLst>
            <pc:docMk/>
            <pc:sldMk cId="0" sldId="258"/>
            <ac:spMk id="1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3959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731520"/>
            <a:ext cx="3840480" cy="3840480"/>
          </a:xfrm>
          <a:prstGeom prst="ellipse">
            <a:avLst/>
          </a:prstGeom>
          <a:solidFill>
            <a:srgbClr val="0D9488">
              <a:alpha val="22000"/>
            </a:srgbClr>
          </a:solidFill>
          <a:ln w="12700">
            <a:solidFill>
              <a:srgbClr val="0D9488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502920"/>
            <a:ext cx="2194560" cy="2194560"/>
          </a:xfrm>
          <a:prstGeom prst="ellipse">
            <a:avLst/>
          </a:prstGeom>
          <a:solidFill>
            <a:srgbClr val="0D9488">
              <a:alpha val="38000"/>
            </a:srgbClr>
          </a:solidFill>
          <a:ln w="12700">
            <a:solidFill>
              <a:srgbClr val="0D948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407408"/>
            <a:ext cx="8357616" cy="5760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78808" y="4407408"/>
            <a:ext cx="4178808" cy="576072"/>
          </a:xfrm>
          <a:prstGeom prst="rect">
            <a:avLst/>
          </a:prstGeom>
          <a:solidFill>
            <a:srgbClr val="025AFB"/>
          </a:solidFill>
          <a:ln w="12700">
            <a:solidFill>
              <a:srgbClr val="025A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21208" y="113385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C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CXone  ·  Sparkathon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21208" y="1444752"/>
            <a:ext cx="7132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× CXOne: Autonomous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Center Intelligence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21208" y="3090672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C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devices proactively trigger CXOne AI Agents to detect, diagnose and resolve service events — before the customer ever needs to call.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" y="3657600"/>
            <a:ext cx="1965960" cy="685800"/>
          </a:xfrm>
          <a:prstGeom prst="rect">
            <a:avLst/>
          </a:prstGeom>
          <a:solidFill>
            <a:srgbClr val="1C3557">
              <a:alpha val="85000"/>
            </a:srgbClr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" y="3657600"/>
            <a:ext cx="196596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IoT Device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CECE8"/>
                </a:solidFill>
              </a:rPr>
              <a:t>Detects and sends event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50592" y="3657600"/>
            <a:ext cx="1965960" cy="685800"/>
          </a:xfrm>
          <a:prstGeom prst="rect">
            <a:avLst/>
          </a:prstGeom>
          <a:solidFill>
            <a:srgbClr val="1C3557">
              <a:alpha val="85000"/>
            </a:srgbClr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50592" y="3657600"/>
            <a:ext cx="196596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FFFFFF"/>
                </a:solidFill>
              </a:rPr>
              <a:t>Cognigy</a:t>
            </a:r>
            <a:r>
              <a:rPr lang="en-US" sz="1100" b="1" dirty="0">
                <a:solidFill>
                  <a:srgbClr val="FFFFFF"/>
                </a:solidFill>
              </a:rPr>
              <a:t> AI Agent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CECE8"/>
                </a:solidFill>
              </a:rPr>
              <a:t>Reasons &amp; acts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53712" y="3657600"/>
            <a:ext cx="1965960" cy="685800"/>
          </a:xfrm>
          <a:prstGeom prst="rect">
            <a:avLst/>
          </a:prstGeom>
          <a:solidFill>
            <a:srgbClr val="1C3557">
              <a:alpha val="85000"/>
            </a:srgbClr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53712" y="3657600"/>
            <a:ext cx="196596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CXOne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CECE8"/>
                </a:solidFill>
              </a:rPr>
              <a:t>Orchestrates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56832" y="3657600"/>
            <a:ext cx="1965960" cy="685800"/>
          </a:xfrm>
          <a:prstGeom prst="rect">
            <a:avLst/>
          </a:prstGeom>
          <a:solidFill>
            <a:srgbClr val="1C3557">
              <a:alpha val="85000"/>
            </a:srgbClr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56832" y="3657600"/>
            <a:ext cx="196596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Resolution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CECE8"/>
                </a:solidFill>
              </a:rPr>
              <a:t>Auto Workflow or Escalate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313432" y="3959352"/>
            <a:ext cx="137160" cy="73152"/>
          </a:xfrm>
          <a:prstGeom prst="rect">
            <a:avLst/>
          </a:prstGeom>
          <a:solidFill>
            <a:srgbClr val="CCECE8"/>
          </a:solidFill>
          <a:ln w="12700">
            <a:solidFill>
              <a:srgbClr val="CCE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416552" y="3959352"/>
            <a:ext cx="137160" cy="73152"/>
          </a:xfrm>
          <a:prstGeom prst="rect">
            <a:avLst/>
          </a:prstGeom>
          <a:solidFill>
            <a:srgbClr val="CCECE8"/>
          </a:solidFill>
          <a:ln w="12700">
            <a:solidFill>
              <a:srgbClr val="CCE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519672" y="3959352"/>
            <a:ext cx="137160" cy="73152"/>
          </a:xfrm>
          <a:prstGeom prst="rect">
            <a:avLst/>
          </a:prstGeom>
          <a:solidFill>
            <a:srgbClr val="CCECE8"/>
          </a:solidFill>
          <a:ln w="12700">
            <a:solidFill>
              <a:srgbClr val="CCE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83680" y="44074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</a:t>
            </a:r>
            <a:endParaRPr lang="en-US" sz="9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4645152"/>
            <a:ext cx="1280160" cy="27432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583680" y="49194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20040" y="44714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Brij Mohan , Vinayak Bhati  | </a:t>
            </a:r>
            <a:r>
              <a:rPr lang="en-US" sz="9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Sparkathon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"/>
          <p:cNvSpPr/>
          <p:nvPr/>
        </p:nvSpPr>
        <p:spPr>
          <a:xfrm>
            <a:off x="0" y="0"/>
            <a:ext cx="411480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"/>
          <p:cNvSpPr/>
          <p:nvPr/>
        </p:nvSpPr>
        <p:spPr>
          <a:xfrm>
            <a:off x="4114800" y="0"/>
            <a:ext cx="5029200" cy="731520"/>
          </a:xfrm>
          <a:prstGeom prst="rect">
            <a:avLst/>
          </a:prstGeom>
          <a:solidFill>
            <a:srgbClr val="025AFB"/>
          </a:solidFill>
          <a:ln w="12700">
            <a:solidFill>
              <a:srgbClr val="025A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"/>
          <p:cNvSpPr/>
          <p:nvPr/>
        </p:nvSpPr>
        <p:spPr>
          <a:xfrm>
            <a:off x="320040" y="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Objective</a:t>
            </a:r>
          </a:p>
        </p:txBody>
      </p:sp>
      <p:sp>
        <p:nvSpPr>
          <p:cNvPr id="5" name="t"/>
          <p:cNvSpPr/>
          <p:nvPr/>
        </p:nvSpPr>
        <p:spPr>
          <a:xfrm>
            <a:off x="3200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CC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devices already know they are broken — but CXOne never hears it.</a:t>
            </a:r>
          </a:p>
        </p:txBody>
      </p:sp>
      <p:sp>
        <p:nvSpPr>
          <p:cNvPr id="6" name="r"/>
          <p:cNvSpPr/>
          <p:nvPr/>
        </p:nvSpPr>
        <p:spPr>
          <a:xfrm>
            <a:off x="292608" y="1115568"/>
            <a:ext cx="2651760" cy="1280160"/>
          </a:xfrm>
          <a:prstGeom prst="rect">
            <a:avLst/>
          </a:prstGeom>
          <a:solidFill>
            <a:srgbClr val="1C3557">
              <a:alpha val="95000"/>
            </a:srgbClr>
          </a:solidFill>
          <a:ln w="635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r"/>
          <p:cNvSpPr/>
          <p:nvPr/>
        </p:nvSpPr>
        <p:spPr>
          <a:xfrm>
            <a:off x="292608" y="1115568"/>
            <a:ext cx="26517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"/>
          <p:cNvSpPr/>
          <p:nvPr/>
        </p:nvSpPr>
        <p:spPr>
          <a:xfrm>
            <a:off x="429768" y="1234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Faults</a:t>
            </a:r>
          </a:p>
        </p:txBody>
      </p:sp>
      <p:sp>
        <p:nvSpPr>
          <p:cNvPr id="9" name="t"/>
          <p:cNvSpPr/>
          <p:nvPr/>
        </p:nvSpPr>
        <p:spPr>
          <a:xfrm>
            <a:off x="402336" y="1563624"/>
            <a:ext cx="2450592" cy="12796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CC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detect the issue instantly — but that signal never reaches the contact center. The device knew before anyone else did.</a:t>
            </a:r>
          </a:p>
        </p:txBody>
      </p:sp>
      <p:sp>
        <p:nvSpPr>
          <p:cNvPr id="10" name="r"/>
          <p:cNvSpPr/>
          <p:nvPr/>
        </p:nvSpPr>
        <p:spPr>
          <a:xfrm>
            <a:off x="3063240" y="1115568"/>
            <a:ext cx="2651760" cy="1280160"/>
          </a:xfrm>
          <a:prstGeom prst="rect">
            <a:avLst/>
          </a:prstGeom>
          <a:solidFill>
            <a:srgbClr val="1C3557">
              <a:alpha val="95000"/>
            </a:srgbClr>
          </a:solidFill>
          <a:ln w="635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r"/>
          <p:cNvSpPr/>
          <p:nvPr/>
        </p:nvSpPr>
        <p:spPr>
          <a:xfrm>
            <a:off x="3063240" y="1115568"/>
            <a:ext cx="2651760" cy="54864"/>
          </a:xfrm>
          <a:prstGeom prst="rect">
            <a:avLst/>
          </a:prstGeom>
          <a:solidFill>
            <a:srgbClr val="DC4C3E"/>
          </a:solidFill>
          <a:ln w="12700">
            <a:solidFill>
              <a:srgbClr val="DC4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"/>
          <p:cNvSpPr/>
          <p:nvPr/>
        </p:nvSpPr>
        <p:spPr>
          <a:xfrm>
            <a:off x="3200400" y="1234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Reactive-Only Support</a:t>
            </a:r>
          </a:p>
        </p:txBody>
      </p:sp>
      <p:sp>
        <p:nvSpPr>
          <p:cNvPr id="13" name="t"/>
          <p:cNvSpPr/>
          <p:nvPr/>
        </p:nvSpPr>
        <p:spPr>
          <a:xfrm>
            <a:off x="3172968" y="1563624"/>
            <a:ext cx="2450592" cy="12796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CC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starts only when the customer calls, waits on hold, and re-explains the problem from scratch. Hours or days are lost.</a:t>
            </a:r>
          </a:p>
        </p:txBody>
      </p:sp>
      <p:sp>
        <p:nvSpPr>
          <p:cNvPr id="14" name="r"/>
          <p:cNvSpPr/>
          <p:nvPr/>
        </p:nvSpPr>
        <p:spPr>
          <a:xfrm>
            <a:off x="5833872" y="1115568"/>
            <a:ext cx="2651760" cy="1280160"/>
          </a:xfrm>
          <a:prstGeom prst="rect">
            <a:avLst/>
          </a:prstGeom>
          <a:solidFill>
            <a:srgbClr val="1C3557">
              <a:alpha val="95000"/>
            </a:srgbClr>
          </a:solidFill>
          <a:ln w="635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r"/>
          <p:cNvSpPr/>
          <p:nvPr/>
        </p:nvSpPr>
        <p:spPr>
          <a:xfrm>
            <a:off x="5833872" y="1115568"/>
            <a:ext cx="265176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"/>
          <p:cNvSpPr/>
          <p:nvPr/>
        </p:nvSpPr>
        <p:spPr>
          <a:xfrm>
            <a:off x="5971032" y="1234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Blind, Costly Dispatch</a:t>
            </a:r>
          </a:p>
        </p:txBody>
      </p:sp>
      <p:sp>
        <p:nvSpPr>
          <p:cNvPr id="17" name="t"/>
          <p:cNvSpPr/>
          <p:nvPr/>
        </p:nvSpPr>
        <p:spPr>
          <a:xfrm>
            <a:off x="5943600" y="1563624"/>
            <a:ext cx="2450592" cy="12796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CC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work with no device context and technicians roll out on guesswork — long AHT, repeat contacts, failed first visits.</a:t>
            </a:r>
          </a:p>
        </p:txBody>
      </p:sp>
      <p:sp>
        <p:nvSpPr>
          <p:cNvPr id="18" name="r"/>
          <p:cNvSpPr/>
          <p:nvPr/>
        </p:nvSpPr>
        <p:spPr>
          <a:xfrm>
            <a:off x="292608" y="2560000"/>
            <a:ext cx="8558784" cy="624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"/>
          <p:cNvSpPr/>
          <p:nvPr/>
        </p:nvSpPr>
        <p:spPr>
          <a:xfrm>
            <a:off x="457200" y="2560000"/>
            <a:ext cx="82296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IoT / device fault events natively into CXOne AI Agents to detect, triage and resolve service events autonomously — or escalate to a human with full device context — before the customer ever needs to call.</a:t>
            </a:r>
          </a:p>
        </p:txBody>
      </p:sp>
      <p:sp>
        <p:nvSpPr>
          <p:cNvPr id="20" name="r"/>
          <p:cNvSpPr/>
          <p:nvPr/>
        </p:nvSpPr>
        <p:spPr>
          <a:xfrm>
            <a:off x="292608" y="3320000"/>
            <a:ext cx="4155888" cy="900000"/>
          </a:xfrm>
          <a:prstGeom prst="rect">
            <a:avLst/>
          </a:prstGeom>
          <a:solidFill>
            <a:srgbClr val="1C3557">
              <a:alpha val="95000"/>
            </a:srgbClr>
          </a:solidFill>
          <a:ln w="635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r"/>
          <p:cNvSpPr/>
          <p:nvPr/>
        </p:nvSpPr>
        <p:spPr>
          <a:xfrm>
            <a:off x="292608" y="3320000"/>
            <a:ext cx="4155888" cy="54864"/>
          </a:xfrm>
          <a:prstGeom prst="rect">
            <a:avLst/>
          </a:prstGeom>
          <a:solidFill>
            <a:srgbClr val="025AFB"/>
          </a:solidFill>
          <a:ln w="12700">
            <a:solidFill>
              <a:srgbClr val="025A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"/>
          <p:cNvSpPr/>
          <p:nvPr/>
        </p:nvSpPr>
        <p:spPr>
          <a:xfrm>
            <a:off x="429768" y="3374864"/>
            <a:ext cx="1500000" cy="790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CC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30–50%</a:t>
            </a:r>
          </a:p>
        </p:txBody>
      </p:sp>
      <p:sp>
        <p:nvSpPr>
          <p:cNvPr id="23" name="t"/>
          <p:cNvSpPr/>
          <p:nvPr/>
        </p:nvSpPr>
        <p:spPr>
          <a:xfrm>
            <a:off x="1992608" y="3374864"/>
            <a:ext cx="2318728" cy="790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C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contact-center cost is calls a smart device could have prevented</a:t>
            </a:r>
          </a:p>
        </p:txBody>
      </p:sp>
      <p:sp>
        <p:nvSpPr>
          <p:cNvPr id="24" name="r"/>
          <p:cNvSpPr/>
          <p:nvPr/>
        </p:nvSpPr>
        <p:spPr>
          <a:xfrm>
            <a:off x="4695504" y="3320000"/>
            <a:ext cx="4155888" cy="900000"/>
          </a:xfrm>
          <a:prstGeom prst="rect">
            <a:avLst/>
          </a:prstGeom>
          <a:solidFill>
            <a:srgbClr val="1C3557">
              <a:alpha val="95000"/>
            </a:srgbClr>
          </a:solidFill>
          <a:ln w="635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r"/>
          <p:cNvSpPr/>
          <p:nvPr/>
        </p:nvSpPr>
        <p:spPr>
          <a:xfrm>
            <a:off x="4695504" y="3320000"/>
            <a:ext cx="4155888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"/>
          <p:cNvSpPr/>
          <p:nvPr/>
        </p:nvSpPr>
        <p:spPr>
          <a:xfrm>
            <a:off x="4832664" y="3374864"/>
            <a:ext cx="1500000" cy="790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</a:p>
        </p:txBody>
      </p:sp>
      <p:sp>
        <p:nvSpPr>
          <p:cNvPr id="27" name="t"/>
          <p:cNvSpPr/>
          <p:nvPr/>
        </p:nvSpPr>
        <p:spPr>
          <a:xfrm>
            <a:off x="6395504" y="3374864"/>
            <a:ext cx="2318728" cy="790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C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field-service truck rolls are avoidable with pre-diagnosis</a:t>
            </a:r>
          </a:p>
        </p:txBody>
      </p:sp>
      <p:pic>
        <p:nvPicPr>
          <p:cNvPr id="28" name="Imag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4709160"/>
            <a:ext cx="1005840" cy="320040"/>
          </a:xfrm>
          <a:prstGeom prst="rect">
            <a:avLst/>
          </a:prstGeom>
        </p:spPr>
      </p:pic>
      <p:sp>
        <p:nvSpPr>
          <p:cNvPr id="29" name="t"/>
          <p:cNvSpPr/>
          <p:nvPr/>
        </p:nvSpPr>
        <p:spPr>
          <a:xfrm>
            <a:off x="320040" y="480060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× CXOne Sparkathon 2026  |  NICE Product 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731520"/>
          </a:xfrm>
          <a:prstGeom prst="rect">
            <a:avLst/>
          </a:prstGeom>
          <a:solidFill>
            <a:srgbClr val="025AFB"/>
          </a:solidFill>
          <a:ln w="12700">
            <a:solidFill>
              <a:srgbClr val="025A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Businesses &amp; Industries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CC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IoT + CXOne AI Agents create the highest-value proactive service outcomes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" y="1115568"/>
            <a:ext cx="2651760" cy="1371600"/>
          </a:xfrm>
          <a:prstGeom prst="rect">
            <a:avLst/>
          </a:prstGeom>
          <a:solidFill>
            <a:srgbClr val="1C3557">
              <a:alpha val="95000"/>
            </a:srgbClr>
          </a:solidFill>
          <a:ln w="635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92608" y="1115568"/>
            <a:ext cx="26517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29768" y="1243584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316736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05256" y="1252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Home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02336" y="1609344"/>
            <a:ext cx="2432304" cy="804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C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Appliances self-diagnose &amp; book repairs and periodic services. </a:t>
            </a:r>
          </a:p>
          <a:p>
            <a:pPr marL="0" indent="0" algn="l">
              <a:buNone/>
            </a:pPr>
            <a:r>
              <a:rPr lang="en-US" sz="1000" dirty="0">
                <a:solidFill>
                  <a:srgbClr val="CC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customer call needed. </a:t>
            </a:r>
          </a:p>
          <a:p>
            <a:pPr marL="0" indent="0" algn="l">
              <a:buNone/>
            </a:pPr>
            <a:r>
              <a:rPr lang="en-US" sz="1000" dirty="0">
                <a:solidFill>
                  <a:srgbClr val="CC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soars.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063240" y="1115568"/>
            <a:ext cx="2651760" cy="1371600"/>
          </a:xfrm>
          <a:prstGeom prst="rect">
            <a:avLst/>
          </a:prstGeom>
          <a:solidFill>
            <a:srgbClr val="1C3557">
              <a:alpha val="95000"/>
            </a:srgbClr>
          </a:solidFill>
          <a:ln w="635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063240" y="1115568"/>
            <a:ext cx="2651760" cy="54864"/>
          </a:xfrm>
          <a:prstGeom prst="rect">
            <a:avLst/>
          </a:prstGeom>
          <a:solidFill>
            <a:srgbClr val="2D5F8A"/>
          </a:solidFill>
          <a:ln w="12700">
            <a:solidFill>
              <a:srgbClr val="2D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200400" y="1243584"/>
            <a:ext cx="384048" cy="384048"/>
          </a:xfrm>
          <a:prstGeom prst="ellipse">
            <a:avLst/>
          </a:prstGeom>
          <a:solidFill>
            <a:srgbClr val="2D5F8A"/>
          </a:solidFill>
          <a:ln w="12700">
            <a:solidFill>
              <a:srgbClr val="2D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3552" y="1316736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75888" y="1252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172968" y="1609344"/>
            <a:ext cx="2432304" cy="804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C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alert vendors before downtime. Cuts unplanned outages up to 30%.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833872" y="1115568"/>
            <a:ext cx="2651760" cy="1371600"/>
          </a:xfrm>
          <a:prstGeom prst="rect">
            <a:avLst/>
          </a:prstGeom>
          <a:solidFill>
            <a:srgbClr val="1C3557">
              <a:alpha val="95000"/>
            </a:srgbClr>
          </a:solidFill>
          <a:ln w="635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5833872" y="1115568"/>
            <a:ext cx="2651760" cy="54864"/>
          </a:xfrm>
          <a:prstGeom prst="rect">
            <a:avLst/>
          </a:prstGeom>
          <a:solidFill>
            <a:srgbClr val="DC4C3E"/>
          </a:solidFill>
          <a:ln w="12700">
            <a:solidFill>
              <a:srgbClr val="DC4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5971032" y="1243584"/>
            <a:ext cx="384048" cy="384048"/>
          </a:xfrm>
          <a:prstGeom prst="ellipse">
            <a:avLst/>
          </a:prstGeom>
          <a:solidFill>
            <a:srgbClr val="DC4C3E"/>
          </a:solidFill>
          <a:ln w="12700">
            <a:solidFill>
              <a:srgbClr val="DC4C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4184" y="1316736"/>
            <a:ext cx="237744" cy="23774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46520" y="1252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5943600" y="1609344"/>
            <a:ext cx="2432304" cy="804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C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devices triage hospital or home patient’s events.</a:t>
            </a:r>
          </a:p>
          <a:p>
            <a:pPr marL="0" indent="0" algn="l">
              <a:buNone/>
            </a:pPr>
            <a:r>
              <a:rPr lang="en-US" sz="1000" dirty="0">
                <a:solidFill>
                  <a:srgbClr val="CC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Hospital’s Patient Care for any deflections from normal.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292608" y="2624328"/>
            <a:ext cx="2651760" cy="1371600"/>
          </a:xfrm>
          <a:prstGeom prst="rect">
            <a:avLst/>
          </a:prstGeom>
          <a:solidFill>
            <a:srgbClr val="1C3557">
              <a:alpha val="95000"/>
            </a:srgbClr>
          </a:solidFill>
          <a:ln w="635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292608" y="2624328"/>
            <a:ext cx="265176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429768" y="2752344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2825496"/>
            <a:ext cx="237744" cy="23774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05256" y="27614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402336" y="3118104"/>
            <a:ext cx="2432304" cy="804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C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auto-schedules periodic service or repair during any possible fault detection. </a:t>
            </a:r>
          </a:p>
          <a:p>
            <a:pPr marL="0" indent="0" algn="l">
              <a:buNone/>
            </a:pPr>
            <a:r>
              <a:rPr lang="en-US" sz="1000" dirty="0">
                <a:solidFill>
                  <a:srgbClr val="CC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managers and Owner notified instantly.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3063240" y="2624328"/>
            <a:ext cx="2651760" cy="1371600"/>
          </a:xfrm>
          <a:prstGeom prst="rect">
            <a:avLst/>
          </a:prstGeom>
          <a:solidFill>
            <a:srgbClr val="1C3557">
              <a:alpha val="95000"/>
            </a:srgbClr>
          </a:solidFill>
          <a:ln w="635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3063240" y="2624328"/>
            <a:ext cx="265176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3200400" y="2752344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73552" y="2825496"/>
            <a:ext cx="237744" cy="23774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675888" y="27614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3172968" y="3118104"/>
            <a:ext cx="2432304" cy="804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C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outage notifications by AI agent deflect 10× call surge during any possible Outages. </a:t>
            </a:r>
          </a:p>
          <a:p>
            <a:pPr marL="0" indent="0" algn="l">
              <a:buNone/>
            </a:pPr>
            <a:r>
              <a:rPr lang="en-US" sz="1000" dirty="0">
                <a:solidFill>
                  <a:srgbClr val="CC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 met, millions saved per such incident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5833872" y="2624328"/>
            <a:ext cx="2651760" cy="1371600"/>
          </a:xfrm>
          <a:prstGeom prst="rect">
            <a:avLst/>
          </a:prstGeom>
          <a:solidFill>
            <a:srgbClr val="1C3557">
              <a:alpha val="95000"/>
            </a:srgbClr>
          </a:solidFill>
          <a:ln w="635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0"/>
          <p:cNvSpPr/>
          <p:nvPr/>
        </p:nvSpPr>
        <p:spPr>
          <a:xfrm>
            <a:off x="5833872" y="2624328"/>
            <a:ext cx="2651760" cy="54864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1"/>
          <p:cNvSpPr/>
          <p:nvPr/>
        </p:nvSpPr>
        <p:spPr>
          <a:xfrm>
            <a:off x="5971032" y="2752344"/>
            <a:ext cx="384048" cy="38404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44184" y="2825496"/>
            <a:ext cx="237744" cy="237744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446520" y="27614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1200" dirty="0"/>
          </a:p>
        </p:txBody>
      </p:sp>
      <p:sp>
        <p:nvSpPr>
          <p:cNvPr id="41" name="Text 33"/>
          <p:cNvSpPr/>
          <p:nvPr/>
        </p:nvSpPr>
        <p:spPr>
          <a:xfrm>
            <a:off x="5943600" y="3118104"/>
            <a:ext cx="2432304" cy="804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C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flags and fix potential risks based on cold chain warehouse sensors flag. </a:t>
            </a:r>
          </a:p>
          <a:p>
            <a:pPr marL="0" indent="0" algn="l">
              <a:buNone/>
            </a:pPr>
            <a:r>
              <a:rPr lang="en-US" sz="1000" dirty="0">
                <a:solidFill>
                  <a:srgbClr val="CC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proactively addresses reroutes, </a:t>
            </a:r>
            <a:r>
              <a:rPr lang="en-US" sz="1000">
                <a:solidFill>
                  <a:srgbClr val="CC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 to </a:t>
            </a:r>
            <a:r>
              <a:rPr lang="en-US" sz="1000" dirty="0">
                <a:solidFill>
                  <a:srgbClr val="CC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supply </a:t>
            </a:r>
            <a:r>
              <a:rPr lang="en-US" sz="1000">
                <a:solidFill>
                  <a:srgbClr val="CC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Customers.</a:t>
            </a:r>
            <a:endParaRPr lang="en-US" sz="1000" dirty="0"/>
          </a:p>
        </p:txBody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55280" y="4709160"/>
            <a:ext cx="1005840" cy="32004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320040" y="480060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× CXOne Sparkathon 2026  |  NICE Product Management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"/>
          <p:cNvSpPr/>
          <p:nvPr/>
        </p:nvSpPr>
        <p:spPr>
          <a:xfrm>
            <a:off x="0" y="0"/>
            <a:ext cx="411480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"/>
          <p:cNvSpPr/>
          <p:nvPr/>
        </p:nvSpPr>
        <p:spPr>
          <a:xfrm>
            <a:off x="4114800" y="0"/>
            <a:ext cx="5029200" cy="731520"/>
          </a:xfrm>
          <a:prstGeom prst="rect">
            <a:avLst/>
          </a:prstGeom>
          <a:solidFill>
            <a:srgbClr val="025AFB"/>
          </a:solidFill>
          <a:ln w="12700">
            <a:solidFill>
              <a:srgbClr val="025A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"/>
          <p:cNvSpPr/>
          <p:nvPr/>
        </p:nvSpPr>
        <p:spPr>
          <a:xfrm>
            <a:off x="320040" y="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Achieve It — High-Level Architecture</a:t>
            </a:r>
          </a:p>
        </p:txBody>
      </p:sp>
      <p:sp>
        <p:nvSpPr>
          <p:cNvPr id="5" name="t"/>
          <p:cNvSpPr/>
          <p:nvPr/>
        </p:nvSpPr>
        <p:spPr>
          <a:xfrm>
            <a:off x="3200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CC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net-new component bridges devices into NICE’s existing AEP + Cognigy platform.</a:t>
            </a:r>
          </a:p>
        </p:txBody>
      </p:sp>
      <p:sp>
        <p:nvSpPr>
          <p:cNvPr id="6" name="r"/>
          <p:cNvSpPr/>
          <p:nvPr/>
        </p:nvSpPr>
        <p:spPr>
          <a:xfrm>
            <a:off x="292608" y="1220000"/>
            <a:ext cx="1560000" cy="1600000"/>
          </a:xfrm>
          <a:prstGeom prst="rect">
            <a:avLst/>
          </a:prstGeom>
          <a:solidFill>
            <a:srgbClr val="1C3557">
              <a:alpha val="95000"/>
            </a:srgbClr>
          </a:solidFill>
          <a:ln w="635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r"/>
          <p:cNvSpPr/>
          <p:nvPr/>
        </p:nvSpPr>
        <p:spPr>
          <a:xfrm>
            <a:off x="292608" y="1220000"/>
            <a:ext cx="156000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"/>
          <p:cNvSpPr/>
          <p:nvPr/>
        </p:nvSpPr>
        <p:spPr>
          <a:xfrm>
            <a:off x="384048" y="1348016"/>
            <a:ext cx="137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</a:p>
        </p:txBody>
      </p:sp>
      <p:sp>
        <p:nvSpPr>
          <p:cNvPr id="9" name="t"/>
          <p:cNvSpPr/>
          <p:nvPr/>
        </p:nvSpPr>
        <p:spPr>
          <a:xfrm>
            <a:off x="384048" y="1549184"/>
            <a:ext cx="137712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Fault Fires</a:t>
            </a:r>
          </a:p>
        </p:txBody>
      </p:sp>
      <p:sp>
        <p:nvSpPr>
          <p:cNvPr id="10" name="t"/>
          <p:cNvSpPr/>
          <p:nvPr/>
        </p:nvSpPr>
        <p:spPr>
          <a:xfrm>
            <a:off x="384048" y="1960000"/>
            <a:ext cx="137712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C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Appliance, machine, vehicle detects and pre-diagnoses a fault or scheduled maintenance</a:t>
            </a:r>
          </a:p>
        </p:txBody>
      </p:sp>
      <p:sp>
        <p:nvSpPr>
          <p:cNvPr id="11" name="r"/>
          <p:cNvSpPr/>
          <p:nvPr/>
        </p:nvSpPr>
        <p:spPr>
          <a:xfrm>
            <a:off x="2042304" y="1220000"/>
            <a:ext cx="1560000" cy="1600000"/>
          </a:xfrm>
          <a:prstGeom prst="rect">
            <a:avLst/>
          </a:prstGeom>
          <a:solidFill>
            <a:srgbClr val="1C3557">
              <a:alpha val="95000"/>
            </a:srgbClr>
          </a:solidFill>
          <a:ln w="635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r"/>
          <p:cNvSpPr/>
          <p:nvPr/>
        </p:nvSpPr>
        <p:spPr>
          <a:xfrm>
            <a:off x="2042304" y="1220000"/>
            <a:ext cx="15600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"/>
          <p:cNvSpPr/>
          <p:nvPr/>
        </p:nvSpPr>
        <p:spPr>
          <a:xfrm>
            <a:off x="2133744" y="1348016"/>
            <a:ext cx="137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</a:p>
        </p:txBody>
      </p:sp>
      <p:sp>
        <p:nvSpPr>
          <p:cNvPr id="14" name="t"/>
          <p:cNvSpPr/>
          <p:nvPr/>
        </p:nvSpPr>
        <p:spPr>
          <a:xfrm>
            <a:off x="2133744" y="1549184"/>
            <a:ext cx="137712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Normalizer</a:t>
            </a:r>
          </a:p>
        </p:txBody>
      </p:sp>
      <p:sp>
        <p:nvSpPr>
          <p:cNvPr id="15" name="t"/>
          <p:cNvSpPr/>
          <p:nvPr/>
        </p:nvSpPr>
        <p:spPr>
          <a:xfrm>
            <a:off x="2133744" y="1960000"/>
            <a:ext cx="137712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C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the raw device payload to NICE’s standard AEP event schema.</a:t>
            </a:r>
          </a:p>
        </p:txBody>
      </p:sp>
      <p:sp>
        <p:nvSpPr>
          <p:cNvPr id="16" name="r"/>
          <p:cNvSpPr/>
          <p:nvPr/>
        </p:nvSpPr>
        <p:spPr>
          <a:xfrm>
            <a:off x="3792000" y="1220000"/>
            <a:ext cx="1560000" cy="1600000"/>
          </a:xfrm>
          <a:prstGeom prst="rect">
            <a:avLst/>
          </a:prstGeom>
          <a:solidFill>
            <a:srgbClr val="1C3557">
              <a:alpha val="95000"/>
            </a:srgbClr>
          </a:solidFill>
          <a:ln w="635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r"/>
          <p:cNvSpPr/>
          <p:nvPr/>
        </p:nvSpPr>
        <p:spPr>
          <a:xfrm>
            <a:off x="3792000" y="1220000"/>
            <a:ext cx="1560000" cy="54864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"/>
          <p:cNvSpPr/>
          <p:nvPr/>
        </p:nvSpPr>
        <p:spPr>
          <a:xfrm>
            <a:off x="3883440" y="1348016"/>
            <a:ext cx="137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</a:t>
            </a:r>
          </a:p>
        </p:txBody>
      </p:sp>
      <p:sp>
        <p:nvSpPr>
          <p:cNvPr id="19" name="t"/>
          <p:cNvSpPr/>
          <p:nvPr/>
        </p:nvSpPr>
        <p:spPr>
          <a:xfrm>
            <a:off x="3883440" y="1549184"/>
            <a:ext cx="137712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AEP + Cognigy Triage</a:t>
            </a:r>
          </a:p>
        </p:txBody>
      </p:sp>
      <p:sp>
        <p:nvSpPr>
          <p:cNvPr id="20" name="t"/>
          <p:cNvSpPr/>
          <p:nvPr/>
        </p:nvSpPr>
        <p:spPr>
          <a:xfrm>
            <a:off x="3883440" y="1960000"/>
            <a:ext cx="137712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C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AI reasons over warranty, fault KB and history; decides Virtual Agent act or escalate to Human.</a:t>
            </a:r>
          </a:p>
        </p:txBody>
      </p:sp>
      <p:sp>
        <p:nvSpPr>
          <p:cNvPr id="21" name="r"/>
          <p:cNvSpPr/>
          <p:nvPr/>
        </p:nvSpPr>
        <p:spPr>
          <a:xfrm>
            <a:off x="5541696" y="1220000"/>
            <a:ext cx="1560000" cy="1600000"/>
          </a:xfrm>
          <a:prstGeom prst="rect">
            <a:avLst/>
          </a:prstGeom>
          <a:solidFill>
            <a:srgbClr val="1C3557">
              <a:alpha val="95000"/>
            </a:srgbClr>
          </a:solidFill>
          <a:ln w="635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r"/>
          <p:cNvSpPr/>
          <p:nvPr/>
        </p:nvSpPr>
        <p:spPr>
          <a:xfrm>
            <a:off x="5541696" y="1220000"/>
            <a:ext cx="1560000" cy="54864"/>
          </a:xfrm>
          <a:prstGeom prst="rect">
            <a:avLst/>
          </a:prstGeom>
          <a:solidFill>
            <a:srgbClr val="025AFB"/>
          </a:solidFill>
          <a:ln w="12700">
            <a:solidFill>
              <a:srgbClr val="025A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"/>
          <p:cNvSpPr/>
          <p:nvPr/>
        </p:nvSpPr>
        <p:spPr>
          <a:xfrm>
            <a:off x="5633136" y="1348016"/>
            <a:ext cx="137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25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</a:t>
            </a:r>
          </a:p>
        </p:txBody>
      </p:sp>
      <p:sp>
        <p:nvSpPr>
          <p:cNvPr id="24" name="t"/>
          <p:cNvSpPr/>
          <p:nvPr/>
        </p:nvSpPr>
        <p:spPr>
          <a:xfrm>
            <a:off x="5633136" y="1549184"/>
            <a:ext cx="137712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Auto-Resolve</a:t>
            </a:r>
          </a:p>
        </p:txBody>
      </p:sp>
      <p:sp>
        <p:nvSpPr>
          <p:cNvPr id="25" name="t"/>
          <p:cNvSpPr/>
          <p:nvPr/>
        </p:nvSpPr>
        <p:spPr>
          <a:xfrm>
            <a:off x="5633136" y="1960000"/>
            <a:ext cx="137712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C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a technician and notifies the customer — zero human touch.</a:t>
            </a:r>
          </a:p>
        </p:txBody>
      </p:sp>
      <p:sp>
        <p:nvSpPr>
          <p:cNvPr id="26" name="r"/>
          <p:cNvSpPr/>
          <p:nvPr/>
        </p:nvSpPr>
        <p:spPr>
          <a:xfrm>
            <a:off x="7291392" y="1220000"/>
            <a:ext cx="1560000" cy="1600000"/>
          </a:xfrm>
          <a:prstGeom prst="rect">
            <a:avLst/>
          </a:prstGeom>
          <a:solidFill>
            <a:srgbClr val="1C3557">
              <a:alpha val="95000"/>
            </a:srgbClr>
          </a:solidFill>
          <a:ln w="635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r"/>
          <p:cNvSpPr/>
          <p:nvPr/>
        </p:nvSpPr>
        <p:spPr>
          <a:xfrm>
            <a:off x="7291392" y="1220000"/>
            <a:ext cx="1560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"/>
          <p:cNvSpPr/>
          <p:nvPr/>
        </p:nvSpPr>
        <p:spPr>
          <a:xfrm>
            <a:off x="7382832" y="1348016"/>
            <a:ext cx="137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</a:t>
            </a:r>
          </a:p>
        </p:txBody>
      </p:sp>
      <p:sp>
        <p:nvSpPr>
          <p:cNvPr id="29" name="t"/>
          <p:cNvSpPr/>
          <p:nvPr/>
        </p:nvSpPr>
        <p:spPr>
          <a:xfrm>
            <a:off x="7382832" y="1549184"/>
            <a:ext cx="137712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w/ Context</a:t>
            </a:r>
          </a:p>
        </p:txBody>
      </p:sp>
      <p:sp>
        <p:nvSpPr>
          <p:cNvPr id="30" name="t"/>
          <p:cNvSpPr/>
          <p:nvPr/>
        </p:nvSpPr>
        <p:spPr>
          <a:xfrm>
            <a:off x="7382832" y="1960000"/>
            <a:ext cx="137712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C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agent gets full device context via screen-pop when needed.</a:t>
            </a:r>
          </a:p>
        </p:txBody>
      </p:sp>
      <p:sp>
        <p:nvSpPr>
          <p:cNvPr id="31" name="t"/>
          <p:cNvSpPr/>
          <p:nvPr/>
        </p:nvSpPr>
        <p:spPr>
          <a:xfrm>
            <a:off x="1852608" y="1882840"/>
            <a:ext cx="18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C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</a:p>
        </p:txBody>
      </p:sp>
      <p:sp>
        <p:nvSpPr>
          <p:cNvPr id="32" name="t"/>
          <p:cNvSpPr/>
          <p:nvPr/>
        </p:nvSpPr>
        <p:spPr>
          <a:xfrm>
            <a:off x="3602304" y="1882840"/>
            <a:ext cx="18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C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</a:p>
        </p:txBody>
      </p:sp>
      <p:sp>
        <p:nvSpPr>
          <p:cNvPr id="33" name="t"/>
          <p:cNvSpPr/>
          <p:nvPr/>
        </p:nvSpPr>
        <p:spPr>
          <a:xfrm>
            <a:off x="5352000" y="1882840"/>
            <a:ext cx="18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C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</a:p>
        </p:txBody>
      </p:sp>
      <p:sp>
        <p:nvSpPr>
          <p:cNvPr id="34" name="t"/>
          <p:cNvSpPr/>
          <p:nvPr/>
        </p:nvSpPr>
        <p:spPr>
          <a:xfrm>
            <a:off x="7101696" y="1882840"/>
            <a:ext cx="18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C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</a:p>
        </p:txBody>
      </p:sp>
      <p:sp>
        <p:nvSpPr>
          <p:cNvPr id="35" name="r"/>
          <p:cNvSpPr/>
          <p:nvPr/>
        </p:nvSpPr>
        <p:spPr>
          <a:xfrm>
            <a:off x="2305562" y="3038288"/>
            <a:ext cx="120913" cy="1463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"/>
          <p:cNvSpPr/>
          <p:nvPr/>
        </p:nvSpPr>
        <p:spPr>
          <a:xfrm>
            <a:off x="2483151" y="3020000"/>
            <a:ext cx="16942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Net-new component</a:t>
            </a:r>
          </a:p>
        </p:txBody>
      </p:sp>
      <p:sp>
        <p:nvSpPr>
          <p:cNvPr id="37" name="r"/>
          <p:cNvSpPr/>
          <p:nvPr/>
        </p:nvSpPr>
        <p:spPr>
          <a:xfrm>
            <a:off x="4445562" y="3038288"/>
            <a:ext cx="120913" cy="146304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"/>
          <p:cNvSpPr/>
          <p:nvPr/>
        </p:nvSpPr>
        <p:spPr>
          <a:xfrm>
            <a:off x="4696627" y="3020000"/>
            <a:ext cx="16942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+ new config</a:t>
            </a:r>
          </a:p>
        </p:txBody>
      </p:sp>
      <p:sp>
        <p:nvSpPr>
          <p:cNvPr id="39" name="r"/>
          <p:cNvSpPr/>
          <p:nvPr/>
        </p:nvSpPr>
        <p:spPr>
          <a:xfrm>
            <a:off x="6585562" y="3038288"/>
            <a:ext cx="120913" cy="146304"/>
          </a:xfrm>
          <a:prstGeom prst="rect">
            <a:avLst/>
          </a:prstGeom>
          <a:solidFill>
            <a:srgbClr val="025AFB"/>
          </a:solidFill>
          <a:ln w="12700">
            <a:solidFill>
              <a:srgbClr val="025A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"/>
          <p:cNvSpPr/>
          <p:nvPr/>
        </p:nvSpPr>
        <p:spPr>
          <a:xfrm>
            <a:off x="6724046" y="3020000"/>
            <a:ext cx="205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platform</a:t>
            </a:r>
          </a:p>
        </p:txBody>
      </p:sp>
      <p:sp>
        <p:nvSpPr>
          <p:cNvPr id="41" name="r"/>
          <p:cNvSpPr/>
          <p:nvPr/>
        </p:nvSpPr>
        <p:spPr>
          <a:xfrm>
            <a:off x="368962" y="3038294"/>
            <a:ext cx="146304" cy="14630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"/>
          <p:cNvSpPr/>
          <p:nvPr/>
        </p:nvSpPr>
        <p:spPr>
          <a:xfrm>
            <a:off x="560962" y="3020006"/>
            <a:ext cx="205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device / vendor</a:t>
            </a:r>
          </a:p>
        </p:txBody>
      </p:sp>
      <p:sp>
        <p:nvSpPr>
          <p:cNvPr id="43" name="r"/>
          <p:cNvSpPr/>
          <p:nvPr/>
        </p:nvSpPr>
        <p:spPr>
          <a:xfrm>
            <a:off x="292608" y="3320000"/>
            <a:ext cx="8558784" cy="1120000"/>
          </a:xfrm>
          <a:prstGeom prst="rect">
            <a:avLst/>
          </a:prstGeom>
          <a:solidFill>
            <a:srgbClr val="1C3557">
              <a:alpha val="95000"/>
            </a:srgbClr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r"/>
          <p:cNvSpPr/>
          <p:nvPr/>
        </p:nvSpPr>
        <p:spPr>
          <a:xfrm>
            <a:off x="292608" y="3320000"/>
            <a:ext cx="8558784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"/>
          <p:cNvSpPr/>
          <p:nvPr/>
        </p:nvSpPr>
        <p:spPr>
          <a:xfrm>
            <a:off x="475488" y="3457160"/>
            <a:ext cx="8193024" cy="845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~85% of this architecture is existing NICE platform</a:t>
            </a:r>
            <a:r>
              <a:rPr lang="en-US" sz="1150" dirty="0">
                <a:solidFill>
                  <a:srgbClr val="CC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AEP threading, Engagement Paths, Cognigy reasoning, CXOne ACD and Agent Workspace are reused as-is.</a:t>
            </a:r>
          </a:p>
          <a:p>
            <a:pPr marL="0" indent="0" algn="l">
              <a:buNone/>
            </a:pPr>
            <a:r>
              <a:rPr lang="en-US" sz="1050" dirty="0">
                <a:solidFill>
                  <a:srgbClr val="CC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IoT Event Normalizer is genuinely new (~2–3 engineering days). Result: 40% fewer inbound calls, +28% CSAT, and a working Sparkathon demo in days — not months.</a:t>
            </a:r>
          </a:p>
        </p:txBody>
      </p:sp>
      <p:pic>
        <p:nvPicPr>
          <p:cNvPr id="46" name="Imag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4709160"/>
            <a:ext cx="1005840" cy="320040"/>
          </a:xfrm>
          <a:prstGeom prst="rect">
            <a:avLst/>
          </a:prstGeom>
        </p:spPr>
      </p:pic>
      <p:sp>
        <p:nvSpPr>
          <p:cNvPr id="47" name="t"/>
          <p:cNvSpPr/>
          <p:nvPr/>
        </p:nvSpPr>
        <p:spPr>
          <a:xfrm>
            <a:off x="320040" y="480060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× CXOne Sparkathon 2026  |  NICE Product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731520"/>
          </a:xfrm>
          <a:prstGeom prst="rect">
            <a:avLst/>
          </a:prstGeom>
          <a:solidFill>
            <a:srgbClr val="025AFB"/>
          </a:solidFill>
          <a:ln w="12700">
            <a:solidFill>
              <a:srgbClr val="025A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CCaaS Business Returns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CC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Quantifiable value IoT-connected contact centers unlock for NICE and its customers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1874520" cy="1115568"/>
          </a:xfrm>
          <a:prstGeom prst="rect">
            <a:avLst/>
          </a:prstGeom>
          <a:solidFill>
            <a:srgbClr val="1C3557">
              <a:alpha val="90000"/>
            </a:srgbClr>
          </a:solidFill>
          <a:ln w="1905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18745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207008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93192" y="1755648"/>
            <a:ext cx="1728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C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call volume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04288" y="1115568"/>
            <a:ext cx="1874520" cy="1115568"/>
          </a:xfrm>
          <a:prstGeom prst="rect">
            <a:avLst/>
          </a:prstGeom>
          <a:solidFill>
            <a:srgbClr val="1C3557">
              <a:alpha val="90000"/>
            </a:srgbClr>
          </a:solidFill>
          <a:ln w="19050">
            <a:solidFill>
              <a:srgbClr val="025AFB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304288" y="1115568"/>
            <a:ext cx="1874520" cy="64008"/>
          </a:xfrm>
          <a:prstGeom prst="rect">
            <a:avLst/>
          </a:prstGeom>
          <a:solidFill>
            <a:srgbClr val="025AFB"/>
          </a:solidFill>
          <a:ln w="12700">
            <a:solidFill>
              <a:srgbClr val="025A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304288" y="1207008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5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$12B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377440" y="1755648"/>
            <a:ext cx="1728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IoT-CX market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C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by 2028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88536" y="1115568"/>
            <a:ext cx="1874520" cy="1115568"/>
          </a:xfrm>
          <a:prstGeom prst="rect">
            <a:avLst/>
          </a:prstGeom>
          <a:solidFill>
            <a:srgbClr val="1C3557">
              <a:alpha val="90000"/>
            </a:srgbClr>
          </a:solidFill>
          <a:ln w="1905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288536" y="1115568"/>
            <a:ext cx="187452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88536" y="1207008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361688" y="1755648"/>
            <a:ext cx="1728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Bookings/Resolution vs.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C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human-initiated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72784" y="1115568"/>
            <a:ext cx="1874520" cy="1115568"/>
          </a:xfrm>
          <a:prstGeom prst="rect">
            <a:avLst/>
          </a:prstGeom>
          <a:solidFill>
            <a:srgbClr val="1C3557">
              <a:alpha val="90000"/>
            </a:srgbClr>
          </a:solidFill>
          <a:ln w="19050">
            <a:solidFill>
              <a:srgbClr val="D97706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72784" y="1115568"/>
            <a:ext cx="187452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72784" y="1207008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345936" y="1755648"/>
            <a:ext cx="1728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CSAT with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C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service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0040" y="2331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Expansion for NICE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" y="2651760"/>
            <a:ext cx="384048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per-device-event licensing model on CXOne</a:t>
            </a:r>
            <a:endParaRPr lang="en-US" sz="1000" dirty="0"/>
          </a:p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IoT-AI support tiers for enterprise customers</a:t>
            </a:r>
            <a:endParaRPr lang="en-US" sz="1000" dirty="0"/>
          </a:p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ISV/partner ecosystem via CXOne APIs</a:t>
            </a:r>
            <a:endParaRPr lang="en-US" sz="1000" dirty="0"/>
          </a:p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Enlighten AI trained on live device telemetry data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89120" y="2331720"/>
            <a:ext cx="36576" cy="1691640"/>
          </a:xfrm>
          <a:prstGeom prst="rect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53712" y="2331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Savings for Customers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53712" y="2651760"/>
            <a:ext cx="411480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30–50% reduction in cost-per-contact via AI deflection</a:t>
            </a:r>
            <a:endParaRPr lang="en-US" sz="1000" dirty="0"/>
          </a:p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unplanned downtime (mfg sector: $50B+ annually)</a:t>
            </a:r>
            <a:endParaRPr lang="en-US" sz="1000" dirty="0"/>
          </a:p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field dispatch — resolve remotely via AI agent</a:t>
            </a:r>
            <a:endParaRPr lang="en-US" sz="1000" dirty="0"/>
          </a:p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AHT as agents get pre-resolved device context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4169664"/>
            <a:ext cx="4178808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178808" y="4169664"/>
            <a:ext cx="4178808" cy="512064"/>
          </a:xfrm>
          <a:prstGeom prst="rect">
            <a:avLst/>
          </a:prstGeom>
          <a:solidFill>
            <a:srgbClr val="025AFB"/>
          </a:solidFill>
          <a:ln w="12700">
            <a:solidFill>
              <a:srgbClr val="025A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4320" y="4178808"/>
            <a:ext cx="777240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is uniquely positioned — CXOne + Enlighten AI + proven enterprise scale = the only CCaaS platform that can own this space.</a:t>
            </a:r>
            <a:endParaRPr lang="en-US" sz="1100" dirty="0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4709160"/>
            <a:ext cx="1005840" cy="32004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320040" y="480060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× CXOne Sparkathon 2026  |  NICE Product Management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9e08a61-09f6-4c5f-81cc-e15b331ff36a}" enabled="1" method="Standard" siteId="{7123dabd-0e87-4da9-9cb9-b7ec82011aa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739</Words>
  <Application>Microsoft Macintosh PowerPoint</Application>
  <PresentationFormat>On-screen Show (16:9)</PresentationFormat>
  <Paragraphs>107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× CXOne: Autonomous Contact Center Intelligence</dc:title>
  <dc:subject>PptxGenJS Presentation</dc:subject>
  <dc:creator>PptxGenJS</dc:creator>
  <cp:lastModifiedBy>Brij Mohan</cp:lastModifiedBy>
  <cp:revision>4</cp:revision>
  <dcterms:created xsi:type="dcterms:W3CDTF">2026-06-08T07:02:28Z</dcterms:created>
  <dcterms:modified xsi:type="dcterms:W3CDTF">2026-07-15T06:45:48Z</dcterms:modified>
</cp:coreProperties>
</file>